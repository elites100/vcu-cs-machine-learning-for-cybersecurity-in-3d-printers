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9260800" cx="43891200"/>
  <p:notesSz cx="6858000" cy="9144000"/>
  <p:embeddedFontLst>
    <p:embeddedFont>
      <p:font typeface="Corbel"/>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216">
          <p15:clr>
            <a:srgbClr val="A4A3A4"/>
          </p15:clr>
        </p15:guide>
        <p15:guide id="2" pos="13824">
          <p15:clr>
            <a:srgbClr val="A4A3A4"/>
          </p15:clr>
        </p15:guide>
      </p15:sldGuideLst>
    </p:ext>
    <p:ext uri="GoogleSlidesCustomDataVersion2">
      <go:slidesCustomData xmlns:go="http://customooxmlschemas.google.com/" r:id="rId11" roundtripDataSignature="AMtx7mj35V9HR+Uwtp/BGp3BP08/ZwRh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216"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Corbel-boldItalic.fntdata"/><Relationship Id="rId9" Type="http://schemas.openxmlformats.org/officeDocument/2006/relationships/font" Target="fonts/Corbel-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Corbel-regular.fntdata"/><Relationship Id="rId8" Type="http://schemas.openxmlformats.org/officeDocument/2006/relationships/font" Target="fonts/Corbel-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2c755e95bcf_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2c755e95bcf_8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pic>
        <p:nvPicPr>
          <p:cNvPr id="7" name="Google Shape;7;p3"/>
          <p:cNvPicPr preferRelativeResize="0"/>
          <p:nvPr/>
        </p:nvPicPr>
        <p:blipFill rotWithShape="1">
          <a:blip r:embed="rId2">
            <a:alphaModFix/>
          </a:blip>
          <a:srcRect b="0" l="0" r="0" t="0"/>
          <a:stretch/>
        </p:blipFill>
        <p:spPr>
          <a:xfrm>
            <a:off x="-1" y="0"/>
            <a:ext cx="43891200" cy="29260800"/>
          </a:xfrm>
          <a:prstGeom prst="rect">
            <a:avLst/>
          </a:prstGeom>
          <a:noFill/>
          <a:ln>
            <a:noFill/>
          </a:ln>
        </p:spPr>
      </p:pic>
      <p:pic>
        <p:nvPicPr>
          <p:cNvPr id="8" name="Google Shape;8;p3"/>
          <p:cNvPicPr preferRelativeResize="0"/>
          <p:nvPr/>
        </p:nvPicPr>
        <p:blipFill rotWithShape="1">
          <a:blip r:embed="rId3">
            <a:alphaModFix/>
          </a:blip>
          <a:srcRect b="0" l="0" r="0" t="0"/>
          <a:stretch/>
        </p:blipFill>
        <p:spPr>
          <a:xfrm>
            <a:off x="0" y="0"/>
            <a:ext cx="43891200" cy="29260800"/>
          </a:xfrm>
          <a:prstGeom prst="rect">
            <a:avLst/>
          </a:prstGeom>
          <a:noFill/>
          <a:ln>
            <a:noFill/>
          </a:ln>
        </p:spPr>
      </p:pic>
      <p:sp>
        <p:nvSpPr>
          <p:cNvPr id="9" name="Google Shape;9;p3"/>
          <p:cNvSpPr/>
          <p:nvPr/>
        </p:nvSpPr>
        <p:spPr>
          <a:xfrm>
            <a:off x="1092201" y="186266"/>
            <a:ext cx="1092200" cy="455507"/>
          </a:xfrm>
          <a:prstGeom prst="rect">
            <a:avLst/>
          </a:prstGeom>
          <a:solidFill>
            <a:srgbClr val="1A191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600" u="none" cap="none" strike="noStrike">
                <a:solidFill>
                  <a:schemeClr val="lt1"/>
                </a:solidFill>
                <a:latin typeface="Corbel"/>
                <a:ea typeface="Corbel"/>
                <a:cs typeface="Corbel"/>
                <a:sym typeface="Corbel"/>
              </a:rPr>
              <a:t>2022</a:t>
            </a:r>
            <a:endParaRPr/>
          </a:p>
        </p:txBody>
      </p:sp>
      <p:pic>
        <p:nvPicPr>
          <p:cNvPr id="10" name="Google Shape;10;p3"/>
          <p:cNvPicPr preferRelativeResize="0"/>
          <p:nvPr/>
        </p:nvPicPr>
        <p:blipFill rotWithShape="1">
          <a:blip r:embed="rId4">
            <a:alphaModFix/>
          </a:blip>
          <a:srcRect b="0" l="0" r="0" t="0"/>
          <a:stretch/>
        </p:blipFill>
        <p:spPr>
          <a:xfrm>
            <a:off x="0" y="0"/>
            <a:ext cx="7690245" cy="215276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g2c755e95bcf_8_2"/>
          <p:cNvSpPr txBox="1"/>
          <p:nvPr/>
        </p:nvSpPr>
        <p:spPr>
          <a:xfrm>
            <a:off x="1386975" y="7919675"/>
            <a:ext cx="10153200" cy="1745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1"/>
                </a:solidFill>
              </a:rPr>
              <a:t>Description</a:t>
            </a:r>
            <a:endParaRPr b="1" sz="4800">
              <a:solidFill>
                <a:schemeClr val="dk1"/>
              </a:solidFill>
            </a:endParaRPr>
          </a:p>
          <a:p>
            <a:pPr indent="0" lvl="0" marL="457200" rtl="0" algn="l">
              <a:spcBef>
                <a:spcPts val="0"/>
              </a:spcBef>
              <a:spcAft>
                <a:spcPts val="0"/>
              </a:spcAft>
              <a:buNone/>
            </a:pPr>
            <a:r>
              <a:t/>
            </a:r>
            <a:endParaRPr b="1" sz="3600">
              <a:solidFill>
                <a:schemeClr val="dk1"/>
              </a:solidFill>
            </a:endParaRPr>
          </a:p>
          <a:p>
            <a:pPr indent="-457200" lvl="0" marL="457200" rtl="0" algn="l">
              <a:spcBef>
                <a:spcPts val="0"/>
              </a:spcBef>
              <a:spcAft>
                <a:spcPts val="0"/>
              </a:spcAft>
              <a:buClr>
                <a:schemeClr val="dk1"/>
              </a:buClr>
              <a:buSzPts val="3600"/>
              <a:buChar char="-"/>
            </a:pPr>
            <a:r>
              <a:rPr b="1" lang="en-US" sz="3600">
                <a:solidFill>
                  <a:schemeClr val="dk1"/>
                </a:solidFill>
              </a:rPr>
              <a:t>Background :</a:t>
            </a:r>
            <a:endParaRPr b="1" sz="3600">
              <a:solidFill>
                <a:schemeClr val="dk1"/>
              </a:solidFill>
            </a:endParaRPr>
          </a:p>
          <a:p>
            <a:pPr indent="-457200" lvl="1" marL="914400" rtl="0" algn="l">
              <a:spcBef>
                <a:spcPts val="0"/>
              </a:spcBef>
              <a:spcAft>
                <a:spcPts val="0"/>
              </a:spcAft>
              <a:buClr>
                <a:schemeClr val="dk1"/>
              </a:buClr>
              <a:buSzPts val="3600"/>
              <a:buChar char="-"/>
            </a:pPr>
            <a:r>
              <a:rPr lang="en-US" sz="3600">
                <a:solidFill>
                  <a:schemeClr val="dk1"/>
                </a:solidFill>
              </a:rPr>
              <a:t>3D printing ( Additive Manufacturing) is a process of creating three-dimensional objects from a digital model by depositing successive layers of material (such as plastic, metal, ceramic, or composite materials) one on top of the other until the object is fully formed.</a:t>
            </a:r>
            <a:br>
              <a:rPr lang="en-US" sz="3600">
                <a:solidFill>
                  <a:schemeClr val="dk1"/>
                </a:solidFill>
              </a:rPr>
            </a:br>
            <a:endParaRPr b="1" sz="3600">
              <a:solidFill>
                <a:schemeClr val="dk1"/>
              </a:solidFill>
            </a:endParaRPr>
          </a:p>
          <a:p>
            <a:pPr indent="-457200" lvl="1" marL="914400" rtl="0" algn="l">
              <a:spcBef>
                <a:spcPts val="0"/>
              </a:spcBef>
              <a:spcAft>
                <a:spcPts val="0"/>
              </a:spcAft>
              <a:buClr>
                <a:schemeClr val="dk1"/>
              </a:buClr>
              <a:buSzPts val="3600"/>
              <a:buChar char="-"/>
            </a:pPr>
            <a:r>
              <a:rPr b="1" lang="en-US" sz="3600">
                <a:solidFill>
                  <a:schemeClr val="dk1"/>
                </a:solidFill>
              </a:rPr>
              <a:t>Steps of 3D Printing:</a:t>
            </a:r>
            <a:endParaRPr b="1" sz="3600">
              <a:solidFill>
                <a:schemeClr val="dk1"/>
              </a:solidFill>
            </a:endParaRPr>
          </a:p>
          <a:p>
            <a:pPr indent="-457200" lvl="0" marL="1828800" rtl="0" algn="l">
              <a:spcBef>
                <a:spcPts val="0"/>
              </a:spcBef>
              <a:spcAft>
                <a:spcPts val="0"/>
              </a:spcAft>
              <a:buClr>
                <a:schemeClr val="dk1"/>
              </a:buClr>
              <a:buSzPts val="3600"/>
              <a:buAutoNum type="arabicPeriod"/>
            </a:pPr>
            <a:r>
              <a:rPr b="1" lang="en-US" sz="3600">
                <a:solidFill>
                  <a:schemeClr val="dk1"/>
                </a:solidFill>
              </a:rPr>
              <a:t>Design </a:t>
            </a:r>
            <a:r>
              <a:rPr lang="en-US" sz="3600">
                <a:solidFill>
                  <a:schemeClr val="dk1"/>
                </a:solidFill>
              </a:rPr>
              <a:t>a digital 3D printer file using a Computer-aided design (CAD) software.</a:t>
            </a:r>
            <a:endParaRPr sz="3600">
              <a:solidFill>
                <a:schemeClr val="dk1"/>
              </a:solidFill>
            </a:endParaRPr>
          </a:p>
          <a:p>
            <a:pPr indent="-457200" lvl="0" marL="1828800" rtl="0" algn="l">
              <a:spcBef>
                <a:spcPts val="0"/>
              </a:spcBef>
              <a:spcAft>
                <a:spcPts val="0"/>
              </a:spcAft>
              <a:buClr>
                <a:schemeClr val="dk1"/>
              </a:buClr>
              <a:buSzPts val="3600"/>
              <a:buAutoNum type="arabicPeriod"/>
            </a:pPr>
            <a:r>
              <a:rPr b="1" lang="en-US" sz="3600">
                <a:solidFill>
                  <a:schemeClr val="dk1"/>
                </a:solidFill>
              </a:rPr>
              <a:t>Convert </a:t>
            </a:r>
            <a:r>
              <a:rPr lang="en-US" sz="3600">
                <a:solidFill>
                  <a:schemeClr val="dk1"/>
                </a:solidFill>
              </a:rPr>
              <a:t>the CAD file to STL file.</a:t>
            </a:r>
            <a:endParaRPr sz="3600">
              <a:solidFill>
                <a:schemeClr val="dk1"/>
              </a:solidFill>
            </a:endParaRPr>
          </a:p>
          <a:p>
            <a:pPr indent="-457200" lvl="0" marL="1828800" rtl="0" algn="l">
              <a:spcBef>
                <a:spcPts val="0"/>
              </a:spcBef>
              <a:spcAft>
                <a:spcPts val="0"/>
              </a:spcAft>
              <a:buClr>
                <a:schemeClr val="dk1"/>
              </a:buClr>
              <a:buSzPts val="3600"/>
              <a:buAutoNum type="arabicPeriod"/>
            </a:pPr>
            <a:r>
              <a:rPr b="1" lang="en-US" sz="3600">
                <a:solidFill>
                  <a:schemeClr val="dk1"/>
                </a:solidFill>
              </a:rPr>
              <a:t>Slice </a:t>
            </a:r>
            <a:r>
              <a:rPr lang="en-US" sz="3600">
                <a:solidFill>
                  <a:schemeClr val="dk1"/>
                </a:solidFill>
              </a:rPr>
              <a:t>the STL file into numerical instructions that the 3D printer can understand. This process is called slicing, and </a:t>
            </a:r>
            <a:r>
              <a:rPr i="1" lang="en-US" sz="3600">
                <a:solidFill>
                  <a:schemeClr val="dk1"/>
                </a:solidFill>
              </a:rPr>
              <a:t>resultant instructions are organized in G-Code file.</a:t>
            </a:r>
            <a:endParaRPr i="1" sz="3600">
              <a:solidFill>
                <a:schemeClr val="dk1"/>
              </a:solidFill>
            </a:endParaRPr>
          </a:p>
          <a:p>
            <a:pPr indent="-457200" lvl="0" marL="1828800" rtl="0" algn="l">
              <a:spcBef>
                <a:spcPts val="0"/>
              </a:spcBef>
              <a:spcAft>
                <a:spcPts val="0"/>
              </a:spcAft>
              <a:buClr>
                <a:schemeClr val="dk1"/>
              </a:buClr>
              <a:buSzPts val="3600"/>
              <a:buAutoNum type="arabicPeriod"/>
            </a:pPr>
            <a:r>
              <a:rPr b="1" lang="en-US" sz="3600">
                <a:solidFill>
                  <a:schemeClr val="dk1"/>
                </a:solidFill>
              </a:rPr>
              <a:t>Execute </a:t>
            </a:r>
            <a:r>
              <a:rPr lang="en-US" sz="3600">
                <a:solidFill>
                  <a:schemeClr val="dk1"/>
                </a:solidFill>
              </a:rPr>
              <a:t> the G-Code file by the firmware to print the object. </a:t>
            </a:r>
            <a:endParaRPr sz="3600">
              <a:solidFill>
                <a:schemeClr val="dk1"/>
              </a:solidFill>
            </a:endParaRPr>
          </a:p>
          <a:p>
            <a:pPr indent="0" lvl="0" marL="1828800" rtl="0" algn="l">
              <a:spcBef>
                <a:spcPts val="0"/>
              </a:spcBef>
              <a:spcAft>
                <a:spcPts val="0"/>
              </a:spcAft>
              <a:buNone/>
            </a:pPr>
            <a:r>
              <a:t/>
            </a:r>
            <a:endParaRPr sz="3600">
              <a:solidFill>
                <a:schemeClr val="dk1"/>
              </a:solidFill>
            </a:endParaRPr>
          </a:p>
          <a:p>
            <a:pPr indent="-457200" lvl="0" marL="914400" rtl="0" algn="l">
              <a:spcBef>
                <a:spcPts val="0"/>
              </a:spcBef>
              <a:spcAft>
                <a:spcPts val="0"/>
              </a:spcAft>
              <a:buClr>
                <a:schemeClr val="dk1"/>
              </a:buClr>
              <a:buSzPts val="3600"/>
              <a:buChar char="-"/>
            </a:pPr>
            <a:r>
              <a:rPr b="1" lang="en-US" sz="3600">
                <a:solidFill>
                  <a:schemeClr val="dk1"/>
                </a:solidFill>
              </a:rPr>
              <a:t>G-Code Data</a:t>
            </a:r>
            <a:r>
              <a:rPr lang="en-US" sz="3600">
                <a:solidFill>
                  <a:schemeClr val="dk1"/>
                </a:solidFill>
              </a:rPr>
              <a:t>: G-Code are sequences of commands that are received by the firmware of the 3D printer to control the hardware. It's comprised of commands dictating movements, printing  speed, fan speed, bed temperature, and extruder temperature..</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0" lvl="0" marL="457200" rtl="0" algn="l">
              <a:spcBef>
                <a:spcPts val="0"/>
              </a:spcBef>
              <a:spcAft>
                <a:spcPts val="0"/>
              </a:spcAft>
              <a:buNone/>
            </a:pPr>
            <a:r>
              <a:t/>
            </a:r>
            <a:endParaRPr sz="3600">
              <a:solidFill>
                <a:schemeClr val="dk1"/>
              </a:solidFill>
            </a:endParaRPr>
          </a:p>
        </p:txBody>
      </p:sp>
      <p:sp>
        <p:nvSpPr>
          <p:cNvPr id="16" name="Google Shape;16;g2c755e95bcf_8_2"/>
          <p:cNvSpPr txBox="1"/>
          <p:nvPr/>
        </p:nvSpPr>
        <p:spPr>
          <a:xfrm>
            <a:off x="12521600" y="7923650"/>
            <a:ext cx="9438300" cy="1080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1"/>
                </a:solidFill>
              </a:rPr>
              <a:t>Information</a:t>
            </a:r>
            <a:br>
              <a:rPr lang="en-US" sz="3600">
                <a:solidFill>
                  <a:schemeClr val="dk1"/>
                </a:solidFill>
              </a:rPr>
            </a:br>
            <a:endParaRPr sz="3600">
              <a:solidFill>
                <a:schemeClr val="dk1"/>
              </a:solidFill>
            </a:endParaRPr>
          </a:p>
          <a:p>
            <a:pPr indent="-457200" lvl="0" marL="457200" rtl="0" algn="l">
              <a:spcBef>
                <a:spcPts val="0"/>
              </a:spcBef>
              <a:spcAft>
                <a:spcPts val="0"/>
              </a:spcAft>
              <a:buClr>
                <a:schemeClr val="dk1"/>
              </a:buClr>
              <a:buSzPts val="3600"/>
              <a:buChar char="-"/>
            </a:pPr>
            <a:r>
              <a:rPr b="1" lang="en-US" sz="3600">
                <a:solidFill>
                  <a:schemeClr val="dk1"/>
                </a:solidFill>
              </a:rPr>
              <a:t>Problem Statement:</a:t>
            </a:r>
            <a:endParaRPr b="1" sz="3600">
              <a:solidFill>
                <a:schemeClr val="dk1"/>
              </a:solidFill>
            </a:endParaRPr>
          </a:p>
          <a:p>
            <a:pPr indent="-457200" lvl="1" marL="914400" rtl="0" algn="l">
              <a:spcBef>
                <a:spcPts val="0"/>
              </a:spcBef>
              <a:spcAft>
                <a:spcPts val="0"/>
              </a:spcAft>
              <a:buClr>
                <a:schemeClr val="dk1"/>
              </a:buClr>
              <a:buSzPts val="3600"/>
              <a:buChar char="-"/>
            </a:pPr>
            <a:r>
              <a:rPr lang="en-US" sz="3600">
                <a:solidFill>
                  <a:schemeClr val="dk1"/>
                </a:solidFill>
              </a:rPr>
              <a:t>Detection of malicious manipulation within the G-code file before executing it by the 3D printer. Such malicious manipulations can include bed and extruder temperatures.</a:t>
            </a:r>
            <a:endParaRPr b="1" sz="3600">
              <a:solidFill>
                <a:schemeClr val="dk1"/>
              </a:solidFill>
            </a:endParaRPr>
          </a:p>
          <a:p>
            <a:pPr indent="0" lvl="0" marL="0" rtl="0" algn="l">
              <a:spcBef>
                <a:spcPts val="0"/>
              </a:spcBef>
              <a:spcAft>
                <a:spcPts val="0"/>
              </a:spcAft>
              <a:buNone/>
            </a:pPr>
            <a:r>
              <a:t/>
            </a:r>
            <a:endParaRPr sz="3600">
              <a:solidFill>
                <a:schemeClr val="dk1"/>
              </a:solidFill>
            </a:endParaRPr>
          </a:p>
          <a:p>
            <a:pPr indent="-457200" lvl="0" marL="457200" rtl="0" algn="l">
              <a:spcBef>
                <a:spcPts val="0"/>
              </a:spcBef>
              <a:spcAft>
                <a:spcPts val="0"/>
              </a:spcAft>
              <a:buClr>
                <a:schemeClr val="dk1"/>
              </a:buClr>
              <a:buSzPts val="3600"/>
              <a:buChar char="-"/>
            </a:pPr>
            <a:r>
              <a:rPr b="1" lang="en-US" sz="3600">
                <a:solidFill>
                  <a:schemeClr val="dk1"/>
                </a:solidFill>
              </a:rPr>
              <a:t>G-Code Manipulation</a:t>
            </a:r>
            <a:r>
              <a:rPr lang="en-US" sz="3600">
                <a:solidFill>
                  <a:schemeClr val="dk1"/>
                </a:solidFill>
              </a:rPr>
              <a:t>: The editing of instructions in a G-code file. It is done by adjusting printing parameters which will affect the printer and its print quality. </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457200" lvl="0" marL="457200" rtl="0" algn="l">
              <a:spcBef>
                <a:spcPts val="0"/>
              </a:spcBef>
              <a:spcAft>
                <a:spcPts val="0"/>
              </a:spcAft>
              <a:buClr>
                <a:schemeClr val="dk1"/>
              </a:buClr>
              <a:buSzPts val="3600"/>
              <a:buChar char="-"/>
            </a:pPr>
            <a:r>
              <a:rPr b="1" lang="en-US" sz="3600">
                <a:solidFill>
                  <a:schemeClr val="dk1"/>
                </a:solidFill>
              </a:rPr>
              <a:t>Industrial Applications:</a:t>
            </a:r>
            <a:endParaRPr b="1" sz="3600">
              <a:solidFill>
                <a:schemeClr val="dk1"/>
              </a:solidFill>
            </a:endParaRPr>
          </a:p>
          <a:p>
            <a:pPr indent="-457200" lvl="2" marL="1371600" rtl="0" algn="l">
              <a:spcBef>
                <a:spcPts val="0"/>
              </a:spcBef>
              <a:spcAft>
                <a:spcPts val="0"/>
              </a:spcAft>
              <a:buClr>
                <a:schemeClr val="dk1"/>
              </a:buClr>
              <a:buSzPts val="3600"/>
              <a:buChar char="-"/>
            </a:pPr>
            <a:r>
              <a:rPr lang="en-US" sz="3600">
                <a:solidFill>
                  <a:schemeClr val="dk1"/>
                </a:solidFill>
              </a:rPr>
              <a:t>Healthcare</a:t>
            </a:r>
            <a:endParaRPr sz="3600">
              <a:solidFill>
                <a:schemeClr val="dk1"/>
              </a:solidFill>
            </a:endParaRPr>
          </a:p>
          <a:p>
            <a:pPr indent="-457200" lvl="2" marL="1371600" rtl="0" algn="l">
              <a:spcBef>
                <a:spcPts val="0"/>
              </a:spcBef>
              <a:spcAft>
                <a:spcPts val="0"/>
              </a:spcAft>
              <a:buClr>
                <a:schemeClr val="dk1"/>
              </a:buClr>
              <a:buSzPts val="3600"/>
              <a:buChar char="-"/>
            </a:pPr>
            <a:r>
              <a:rPr lang="en-US" sz="3600">
                <a:solidFill>
                  <a:schemeClr val="dk1"/>
                </a:solidFill>
              </a:rPr>
              <a:t>Aerospace</a:t>
            </a:r>
            <a:endParaRPr sz="3600">
              <a:solidFill>
                <a:schemeClr val="dk1"/>
              </a:solidFill>
            </a:endParaRPr>
          </a:p>
          <a:p>
            <a:pPr indent="-457200" lvl="2" marL="1371600" rtl="0" algn="l">
              <a:spcBef>
                <a:spcPts val="0"/>
              </a:spcBef>
              <a:spcAft>
                <a:spcPts val="0"/>
              </a:spcAft>
              <a:buClr>
                <a:schemeClr val="dk1"/>
              </a:buClr>
              <a:buSzPts val="3600"/>
              <a:buChar char="-"/>
            </a:pPr>
            <a:r>
              <a:rPr lang="en-US" sz="3600">
                <a:solidFill>
                  <a:schemeClr val="dk1"/>
                </a:solidFill>
              </a:rPr>
              <a:t>Manufacturing</a:t>
            </a:r>
            <a:endParaRPr sz="3600">
              <a:solidFill>
                <a:schemeClr val="dk1"/>
              </a:solidFill>
            </a:endParaRPr>
          </a:p>
          <a:p>
            <a:pPr indent="-457200" lvl="2" marL="1371600" rtl="0" algn="l">
              <a:spcBef>
                <a:spcPts val="0"/>
              </a:spcBef>
              <a:spcAft>
                <a:spcPts val="0"/>
              </a:spcAft>
              <a:buClr>
                <a:schemeClr val="dk1"/>
              </a:buClr>
              <a:buSzPts val="3600"/>
              <a:buChar char="-"/>
            </a:pPr>
            <a:r>
              <a:rPr lang="en-US" sz="3600">
                <a:solidFill>
                  <a:schemeClr val="dk1"/>
                </a:solidFill>
              </a:rPr>
              <a:t>Art and Design</a:t>
            </a:r>
            <a:endParaRPr sz="3600">
              <a:solidFill>
                <a:schemeClr val="dk1"/>
              </a:solidFill>
            </a:endParaRPr>
          </a:p>
        </p:txBody>
      </p:sp>
      <p:sp>
        <p:nvSpPr>
          <p:cNvPr id="17" name="Google Shape;17;g2c755e95bcf_8_2"/>
          <p:cNvSpPr txBox="1"/>
          <p:nvPr/>
        </p:nvSpPr>
        <p:spPr>
          <a:xfrm>
            <a:off x="22566238" y="7954062"/>
            <a:ext cx="8457000" cy="1800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1"/>
                </a:solidFill>
              </a:rPr>
              <a:t>Methodology</a:t>
            </a:r>
            <a:endParaRPr b="1" sz="4800">
              <a:solidFill>
                <a:schemeClr val="dk1"/>
              </a:solidFill>
            </a:endParaRPr>
          </a:p>
          <a:p>
            <a:pPr indent="0" lvl="0" marL="457200" marR="0" rtl="0" algn="l">
              <a:spcBef>
                <a:spcPts val="0"/>
              </a:spcBef>
              <a:spcAft>
                <a:spcPts val="0"/>
              </a:spcAft>
              <a:buNone/>
            </a:pPr>
            <a:r>
              <a:t/>
            </a:r>
            <a:endParaRPr sz="3600">
              <a:solidFill>
                <a:schemeClr val="dk1"/>
              </a:solidFill>
            </a:endParaRPr>
          </a:p>
          <a:p>
            <a:pPr indent="-457200" lvl="0" marL="457200" marR="0" rtl="0" algn="l">
              <a:spcBef>
                <a:spcPts val="0"/>
              </a:spcBef>
              <a:spcAft>
                <a:spcPts val="0"/>
              </a:spcAft>
              <a:buClr>
                <a:schemeClr val="dk1"/>
              </a:buClr>
              <a:buSzPts val="3600"/>
              <a:buChar char="-"/>
            </a:pPr>
            <a:r>
              <a:rPr lang="en-US" sz="3600">
                <a:solidFill>
                  <a:schemeClr val="dk1"/>
                </a:solidFill>
              </a:rPr>
              <a:t>Downloading STL files, and then convert them to G-code data using slicing software (i.e, </a:t>
            </a:r>
            <a:r>
              <a:rPr lang="en-US" sz="3600">
                <a:solidFill>
                  <a:schemeClr val="dk1"/>
                </a:solidFill>
              </a:rPr>
              <a:t>Ultimaker</a:t>
            </a:r>
            <a:r>
              <a:rPr lang="en-US" sz="3600">
                <a:solidFill>
                  <a:schemeClr val="dk1"/>
                </a:solidFill>
              </a:rPr>
              <a:t> Cura)</a:t>
            </a:r>
            <a:endParaRPr sz="3600">
              <a:solidFill>
                <a:schemeClr val="dk1"/>
              </a:solidFill>
            </a:endParaRPr>
          </a:p>
          <a:p>
            <a:pPr indent="-457200" lvl="0" marL="457200" marR="0" rtl="0" algn="l">
              <a:spcBef>
                <a:spcPts val="0"/>
              </a:spcBef>
              <a:spcAft>
                <a:spcPts val="0"/>
              </a:spcAft>
              <a:buClr>
                <a:schemeClr val="dk1"/>
              </a:buClr>
              <a:buSzPts val="3600"/>
              <a:buChar char="-"/>
            </a:pPr>
            <a:r>
              <a:rPr lang="en-US" sz="3600">
                <a:solidFill>
                  <a:schemeClr val="dk1"/>
                </a:solidFill>
              </a:rPr>
              <a:t>under varying parameters such as printer profiles, Infill patterns, and other Slicing Settings.</a:t>
            </a:r>
            <a:endParaRPr sz="3600">
              <a:solidFill>
                <a:schemeClr val="dk1"/>
              </a:solidFill>
            </a:endParaRPr>
          </a:p>
          <a:p>
            <a:pPr indent="0" lvl="0" marL="457200" marR="0" rtl="0" algn="l">
              <a:spcBef>
                <a:spcPts val="0"/>
              </a:spcBef>
              <a:spcAft>
                <a:spcPts val="0"/>
              </a:spcAft>
              <a:buNone/>
            </a:pPr>
            <a:r>
              <a:t/>
            </a:r>
            <a:endParaRPr sz="3600">
              <a:solidFill>
                <a:schemeClr val="dk1"/>
              </a:solidFill>
            </a:endParaRPr>
          </a:p>
          <a:p>
            <a:pPr indent="-457200" lvl="0" marL="457200" marR="0" rtl="0" algn="l">
              <a:spcBef>
                <a:spcPts val="0"/>
              </a:spcBef>
              <a:spcAft>
                <a:spcPts val="0"/>
              </a:spcAft>
              <a:buClr>
                <a:schemeClr val="dk1"/>
              </a:buClr>
              <a:buSzPts val="3600"/>
              <a:buChar char="-"/>
            </a:pPr>
            <a:r>
              <a:rPr lang="en-US" sz="3600">
                <a:solidFill>
                  <a:schemeClr val="dk1"/>
                </a:solidFill>
              </a:rPr>
              <a:t>Extraction of Features derived from G-Code files, found based upon G-code commands. </a:t>
            </a:r>
            <a:br>
              <a:rPr lang="en-US" sz="3600">
                <a:solidFill>
                  <a:schemeClr val="dk1"/>
                </a:solidFill>
              </a:rPr>
            </a:br>
            <a:endParaRPr sz="3600">
              <a:solidFill>
                <a:schemeClr val="dk1"/>
              </a:solidFill>
            </a:endParaRPr>
          </a:p>
          <a:p>
            <a:pPr indent="0" lvl="0" marL="457200" marR="0" rtl="0" algn="l">
              <a:spcBef>
                <a:spcPts val="0"/>
              </a:spcBef>
              <a:spcAft>
                <a:spcPts val="0"/>
              </a:spcAft>
              <a:buNone/>
            </a:pPr>
            <a:r>
              <a:rPr lang="en-US" sz="3600">
                <a:solidFill>
                  <a:schemeClr val="dk1"/>
                </a:solidFill>
              </a:rPr>
              <a:t>Some Features extracted include some of the following:</a:t>
            </a:r>
            <a:endParaRPr sz="3600">
              <a:solidFill>
                <a:schemeClr val="dk1"/>
              </a:solidFill>
            </a:endParaRPr>
          </a:p>
          <a:p>
            <a:pPr indent="-457200" lvl="2" marL="1371600" marR="0" rtl="0" algn="l">
              <a:spcBef>
                <a:spcPts val="0"/>
              </a:spcBef>
              <a:spcAft>
                <a:spcPts val="0"/>
              </a:spcAft>
              <a:buClr>
                <a:schemeClr val="dk1"/>
              </a:buClr>
              <a:buSzPts val="3600"/>
              <a:buChar char="-"/>
            </a:pPr>
            <a:r>
              <a:rPr b="1" lang="en-US" sz="3600">
                <a:solidFill>
                  <a:schemeClr val="dk1"/>
                </a:solidFill>
              </a:rPr>
              <a:t>M104</a:t>
            </a:r>
            <a:r>
              <a:rPr lang="en-US" sz="3600">
                <a:solidFill>
                  <a:schemeClr val="dk1"/>
                </a:solidFill>
              </a:rPr>
              <a:t>: Extruder Temperature</a:t>
            </a:r>
            <a:endParaRPr sz="3600">
              <a:solidFill>
                <a:schemeClr val="dk1"/>
              </a:solidFill>
            </a:endParaRPr>
          </a:p>
          <a:p>
            <a:pPr indent="-457200" lvl="2" marL="1371600" marR="0" rtl="0" algn="l">
              <a:spcBef>
                <a:spcPts val="0"/>
              </a:spcBef>
              <a:spcAft>
                <a:spcPts val="0"/>
              </a:spcAft>
              <a:buClr>
                <a:schemeClr val="dk1"/>
              </a:buClr>
              <a:buSzPts val="3600"/>
              <a:buChar char="-"/>
            </a:pPr>
            <a:r>
              <a:rPr b="1" lang="en-US" sz="3600">
                <a:solidFill>
                  <a:schemeClr val="dk1"/>
                </a:solidFill>
              </a:rPr>
              <a:t>M106/M107:</a:t>
            </a:r>
            <a:r>
              <a:rPr lang="en-US" sz="3600">
                <a:solidFill>
                  <a:schemeClr val="dk1"/>
                </a:solidFill>
              </a:rPr>
              <a:t> Fan ON/OFF</a:t>
            </a:r>
            <a:endParaRPr sz="3600">
              <a:solidFill>
                <a:schemeClr val="dk1"/>
              </a:solidFill>
            </a:endParaRPr>
          </a:p>
          <a:p>
            <a:pPr indent="-457200" lvl="2" marL="1371600" marR="0" rtl="0" algn="l">
              <a:spcBef>
                <a:spcPts val="0"/>
              </a:spcBef>
              <a:spcAft>
                <a:spcPts val="0"/>
              </a:spcAft>
              <a:buClr>
                <a:schemeClr val="dk1"/>
              </a:buClr>
              <a:buSzPts val="3600"/>
              <a:buChar char="-"/>
            </a:pPr>
            <a:r>
              <a:rPr b="1" lang="en-US" sz="3600">
                <a:solidFill>
                  <a:schemeClr val="dk1"/>
                </a:solidFill>
              </a:rPr>
              <a:t>E:</a:t>
            </a:r>
            <a:r>
              <a:rPr lang="en-US" sz="3600">
                <a:solidFill>
                  <a:schemeClr val="dk1"/>
                </a:solidFill>
              </a:rPr>
              <a:t> Extrusion Amount</a:t>
            </a:r>
            <a:endParaRPr sz="3600">
              <a:solidFill>
                <a:schemeClr val="dk1"/>
              </a:solidFill>
            </a:endParaRPr>
          </a:p>
          <a:p>
            <a:pPr indent="-457200" lvl="2" marL="1371600" marR="0" rtl="0" algn="l">
              <a:spcBef>
                <a:spcPts val="0"/>
              </a:spcBef>
              <a:spcAft>
                <a:spcPts val="0"/>
              </a:spcAft>
              <a:buClr>
                <a:schemeClr val="dk1"/>
              </a:buClr>
              <a:buSzPts val="3600"/>
              <a:buChar char="-"/>
            </a:pPr>
            <a:r>
              <a:rPr b="1" lang="en-US" sz="3600">
                <a:solidFill>
                  <a:schemeClr val="dk1"/>
                </a:solidFill>
              </a:rPr>
              <a:t>F:</a:t>
            </a:r>
            <a:r>
              <a:rPr lang="en-US" sz="3600">
                <a:solidFill>
                  <a:schemeClr val="dk1"/>
                </a:solidFill>
              </a:rPr>
              <a:t> Extrusion Speed</a:t>
            </a:r>
            <a:endParaRPr b="1" sz="3600">
              <a:solidFill>
                <a:schemeClr val="dk1"/>
              </a:solidFill>
            </a:endParaRPr>
          </a:p>
          <a:p>
            <a:pPr indent="-457200" lvl="2" marL="1371600" marR="0" rtl="0" algn="l">
              <a:spcBef>
                <a:spcPts val="0"/>
              </a:spcBef>
              <a:spcAft>
                <a:spcPts val="0"/>
              </a:spcAft>
              <a:buClr>
                <a:schemeClr val="dk1"/>
              </a:buClr>
              <a:buSzPts val="3600"/>
              <a:buChar char="-"/>
            </a:pPr>
            <a:r>
              <a:rPr b="1" lang="en-US" sz="3600">
                <a:solidFill>
                  <a:schemeClr val="dk1"/>
                </a:solidFill>
              </a:rPr>
              <a:t>G10/G11</a:t>
            </a:r>
            <a:r>
              <a:rPr lang="en-US" sz="3600">
                <a:solidFill>
                  <a:schemeClr val="dk1"/>
                </a:solidFill>
              </a:rPr>
              <a:t>: Extrusion Mode</a:t>
            </a:r>
            <a:endParaRPr sz="3600">
              <a:solidFill>
                <a:schemeClr val="dk1"/>
              </a:solidFill>
            </a:endParaRPr>
          </a:p>
          <a:p>
            <a:pPr indent="-457200" lvl="2" marL="1371600" rtl="0" algn="l">
              <a:spcBef>
                <a:spcPts val="0"/>
              </a:spcBef>
              <a:spcAft>
                <a:spcPts val="0"/>
              </a:spcAft>
              <a:buClr>
                <a:schemeClr val="dk1"/>
              </a:buClr>
              <a:buSzPts val="3600"/>
              <a:buChar char="-"/>
            </a:pPr>
            <a:r>
              <a:rPr b="1" lang="en-US" sz="3600">
                <a:solidFill>
                  <a:schemeClr val="dk1"/>
                </a:solidFill>
              </a:rPr>
              <a:t>Current Layer</a:t>
            </a:r>
            <a:endParaRPr b="1" sz="3600">
              <a:solidFill>
                <a:schemeClr val="dk1"/>
              </a:solidFill>
            </a:endParaRPr>
          </a:p>
          <a:p>
            <a:pPr indent="-457200" lvl="2" marL="1371600" rtl="0" algn="l">
              <a:spcBef>
                <a:spcPts val="0"/>
              </a:spcBef>
              <a:spcAft>
                <a:spcPts val="0"/>
              </a:spcAft>
              <a:buClr>
                <a:schemeClr val="dk1"/>
              </a:buClr>
              <a:buSzPts val="3600"/>
              <a:buChar char="-"/>
            </a:pPr>
            <a:r>
              <a:rPr b="1" lang="en-US" sz="3600">
                <a:solidFill>
                  <a:schemeClr val="dk1"/>
                </a:solidFill>
              </a:rPr>
              <a:t>Command Frequency</a:t>
            </a:r>
            <a:endParaRPr b="1" sz="3600">
              <a:solidFill>
                <a:schemeClr val="dk1"/>
              </a:solidFill>
            </a:endParaRPr>
          </a:p>
          <a:p>
            <a:pPr indent="0" lvl="0" marL="457200" marR="0" rtl="0" algn="l">
              <a:spcBef>
                <a:spcPts val="0"/>
              </a:spcBef>
              <a:spcAft>
                <a:spcPts val="0"/>
              </a:spcAft>
              <a:buNone/>
            </a:pPr>
            <a:r>
              <a:t/>
            </a:r>
            <a:endParaRPr sz="3600">
              <a:solidFill>
                <a:schemeClr val="dk1"/>
              </a:solidFill>
            </a:endParaRPr>
          </a:p>
          <a:p>
            <a:pPr indent="-457200" lvl="0" marL="457200" marR="0" rtl="0" algn="l">
              <a:spcBef>
                <a:spcPts val="0"/>
              </a:spcBef>
              <a:spcAft>
                <a:spcPts val="0"/>
              </a:spcAft>
              <a:buClr>
                <a:schemeClr val="dk1"/>
              </a:buClr>
              <a:buSzPts val="3600"/>
              <a:buChar char="-"/>
            </a:pPr>
            <a:r>
              <a:rPr lang="en-US" sz="3600">
                <a:solidFill>
                  <a:schemeClr val="dk1"/>
                </a:solidFill>
              </a:rPr>
              <a:t>Creation of Training and Testing Datasets consisting of CSV files Parsed from G-code, Separated by benign code and malicious code.</a:t>
            </a:r>
            <a:endParaRPr sz="3600">
              <a:solidFill>
                <a:schemeClr val="dk1"/>
              </a:solidFill>
            </a:endParaRPr>
          </a:p>
          <a:p>
            <a:pPr indent="0" lvl="0" marL="0" marR="0" rtl="0" algn="l">
              <a:spcBef>
                <a:spcPts val="0"/>
              </a:spcBef>
              <a:spcAft>
                <a:spcPts val="0"/>
              </a:spcAft>
              <a:buNone/>
            </a:pPr>
            <a:r>
              <a:t/>
            </a:r>
            <a:endParaRPr sz="3600">
              <a:solidFill>
                <a:schemeClr val="dk1"/>
              </a:solidFill>
            </a:endParaRPr>
          </a:p>
          <a:p>
            <a:pPr indent="-457200" lvl="0" marL="457200" marR="0" rtl="0" algn="l">
              <a:spcBef>
                <a:spcPts val="0"/>
              </a:spcBef>
              <a:spcAft>
                <a:spcPts val="0"/>
              </a:spcAft>
              <a:buClr>
                <a:schemeClr val="dk1"/>
              </a:buClr>
              <a:buSzPts val="3600"/>
              <a:buChar char="-"/>
            </a:pPr>
            <a:r>
              <a:rPr lang="en-US" sz="3600">
                <a:solidFill>
                  <a:schemeClr val="dk1"/>
                </a:solidFill>
              </a:rPr>
              <a:t>Training a classification machine Learning model in order to leverage the machine learning abilities to detect the malicious manipulations.</a:t>
            </a:r>
            <a:endParaRPr sz="3600">
              <a:solidFill>
                <a:schemeClr val="dk1"/>
              </a:solidFill>
            </a:endParaRPr>
          </a:p>
        </p:txBody>
      </p:sp>
      <p:sp>
        <p:nvSpPr>
          <p:cNvPr id="18" name="Google Shape;18;g2c755e95bcf_8_2"/>
          <p:cNvSpPr txBox="1"/>
          <p:nvPr/>
        </p:nvSpPr>
        <p:spPr>
          <a:xfrm>
            <a:off x="32610900" y="8024450"/>
            <a:ext cx="9043200" cy="1209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1"/>
                </a:solidFill>
              </a:rPr>
              <a:t>Results</a:t>
            </a:r>
            <a:br>
              <a:rPr b="1" lang="en-US" sz="4800">
                <a:solidFill>
                  <a:schemeClr val="dk1"/>
                </a:solidFill>
              </a:rPr>
            </a:br>
            <a:r>
              <a:rPr lang="en-US" sz="4800">
                <a:solidFill>
                  <a:schemeClr val="dk1"/>
                </a:solidFill>
              </a:rPr>
              <a:t>-</a:t>
            </a:r>
            <a:r>
              <a:rPr b="1" lang="en-US" sz="4800">
                <a:solidFill>
                  <a:schemeClr val="dk1"/>
                </a:solidFill>
              </a:rPr>
              <a:t> </a:t>
            </a:r>
            <a:r>
              <a:rPr lang="en-US" sz="3600">
                <a:solidFill>
                  <a:schemeClr val="dk1"/>
                </a:solidFill>
              </a:rPr>
              <a:t>An application that allows for a user to input a selected G-code file and determine if the file has been modified using the created Machine Learning model if the prediction is above a given value.</a:t>
            </a:r>
            <a:endParaRPr sz="3600">
              <a:solidFill>
                <a:schemeClr val="dk1"/>
              </a:solidFill>
            </a:endParaRPr>
          </a:p>
          <a:p>
            <a:pPr indent="0" lvl="0" marL="0" marR="0" rtl="0" algn="l">
              <a:spcBef>
                <a:spcPts val="0"/>
              </a:spcBef>
              <a:spcAft>
                <a:spcPts val="0"/>
              </a:spcAft>
              <a:buNone/>
            </a:pPr>
            <a:r>
              <a:t/>
            </a:r>
            <a:endParaRPr b="1" sz="4800">
              <a:solidFill>
                <a:schemeClr val="dk1"/>
              </a:solidFill>
            </a:endParaRPr>
          </a:p>
          <a:p>
            <a:pPr indent="0" lvl="0" marL="0" marR="0" rtl="0" algn="l">
              <a:spcBef>
                <a:spcPts val="0"/>
              </a:spcBef>
              <a:spcAft>
                <a:spcPts val="0"/>
              </a:spcAft>
              <a:buNone/>
            </a:pPr>
            <a:r>
              <a:rPr b="1" lang="en-US" sz="4800">
                <a:solidFill>
                  <a:schemeClr val="dk1"/>
                </a:solidFill>
              </a:rPr>
              <a:t>Resources</a:t>
            </a:r>
            <a:endParaRPr b="1" sz="4800">
              <a:solidFill>
                <a:schemeClr val="dk1"/>
              </a:solidFill>
            </a:endParaRPr>
          </a:p>
          <a:p>
            <a:pPr indent="-457200" lvl="0" marL="457200" rtl="0" algn="l">
              <a:spcBef>
                <a:spcPts val="0"/>
              </a:spcBef>
              <a:spcAft>
                <a:spcPts val="0"/>
              </a:spcAft>
              <a:buClr>
                <a:schemeClr val="dk1"/>
              </a:buClr>
              <a:buSzPts val="3600"/>
              <a:buChar char="-"/>
            </a:pPr>
            <a:r>
              <a:rPr b="1" i="1" lang="en-US" sz="3600">
                <a:solidFill>
                  <a:schemeClr val="dk1"/>
                </a:solidFill>
              </a:rPr>
              <a:t>Cura</a:t>
            </a:r>
            <a:r>
              <a:rPr b="1" lang="en-US" sz="3600">
                <a:solidFill>
                  <a:schemeClr val="dk1"/>
                </a:solidFill>
              </a:rPr>
              <a:t> </a:t>
            </a:r>
            <a:r>
              <a:rPr lang="en-US" sz="3600">
                <a:solidFill>
                  <a:schemeClr val="dk1"/>
                </a:solidFill>
              </a:rPr>
              <a:t>: An Open-Source slicing application for 3D printers, Developed by Ultimaker. Version 5.4.0</a:t>
            </a:r>
            <a:endParaRPr sz="3600">
              <a:solidFill>
                <a:schemeClr val="dk1"/>
              </a:solidFill>
            </a:endParaRPr>
          </a:p>
          <a:p>
            <a:pPr indent="0" lvl="0" marL="457200" rtl="0" algn="l">
              <a:spcBef>
                <a:spcPts val="0"/>
              </a:spcBef>
              <a:spcAft>
                <a:spcPts val="0"/>
              </a:spcAft>
              <a:buNone/>
            </a:pPr>
            <a:r>
              <a:t/>
            </a:r>
            <a:endParaRPr sz="3600">
              <a:solidFill>
                <a:schemeClr val="dk1"/>
              </a:solidFill>
            </a:endParaRPr>
          </a:p>
          <a:p>
            <a:pPr indent="-457200" lvl="0" marL="457200" rtl="0" algn="l">
              <a:spcBef>
                <a:spcPts val="0"/>
              </a:spcBef>
              <a:spcAft>
                <a:spcPts val="0"/>
              </a:spcAft>
              <a:buClr>
                <a:schemeClr val="dk1"/>
              </a:buClr>
              <a:buSzPts val="3600"/>
              <a:buChar char="-"/>
            </a:pPr>
            <a:r>
              <a:rPr b="1" i="1" lang="en-US" sz="3600">
                <a:solidFill>
                  <a:schemeClr val="dk1"/>
                </a:solidFill>
              </a:rPr>
              <a:t>Python</a:t>
            </a:r>
            <a:r>
              <a:rPr b="1" lang="en-US" sz="3600">
                <a:solidFill>
                  <a:schemeClr val="dk1"/>
                </a:solidFill>
              </a:rPr>
              <a:t> </a:t>
            </a:r>
            <a:r>
              <a:rPr lang="en-US" sz="3600">
                <a:solidFill>
                  <a:schemeClr val="dk1"/>
                </a:solidFill>
              </a:rPr>
              <a:t>: A high-level, general purpose programming language. Version 3.11.6</a:t>
            </a:r>
            <a:endParaRPr sz="3600">
              <a:solidFill>
                <a:schemeClr val="dk1"/>
              </a:solidFill>
            </a:endParaRPr>
          </a:p>
          <a:p>
            <a:pPr indent="0" lvl="0" marL="457200" rtl="0" algn="l">
              <a:spcBef>
                <a:spcPts val="0"/>
              </a:spcBef>
              <a:spcAft>
                <a:spcPts val="0"/>
              </a:spcAft>
              <a:buNone/>
            </a:pPr>
            <a:r>
              <a:t/>
            </a:r>
            <a:endParaRPr sz="3600">
              <a:solidFill>
                <a:schemeClr val="dk1"/>
              </a:solidFill>
            </a:endParaRPr>
          </a:p>
          <a:p>
            <a:pPr indent="-457200" lvl="0" marL="457200" rtl="0" algn="l">
              <a:spcBef>
                <a:spcPts val="0"/>
              </a:spcBef>
              <a:spcAft>
                <a:spcPts val="0"/>
              </a:spcAft>
              <a:buClr>
                <a:schemeClr val="dk1"/>
              </a:buClr>
              <a:buSzPts val="3600"/>
              <a:buChar char="-"/>
            </a:pPr>
            <a:r>
              <a:rPr b="1" i="1" lang="en-US" sz="3600">
                <a:solidFill>
                  <a:schemeClr val="dk1"/>
                </a:solidFill>
              </a:rPr>
              <a:t>TensorFlow</a:t>
            </a:r>
            <a:r>
              <a:rPr b="1" lang="en-US" sz="3600">
                <a:solidFill>
                  <a:schemeClr val="dk1"/>
                </a:solidFill>
              </a:rPr>
              <a:t> </a:t>
            </a:r>
            <a:r>
              <a:rPr lang="en-US" sz="3600">
                <a:solidFill>
                  <a:schemeClr val="dk1"/>
                </a:solidFill>
              </a:rPr>
              <a:t>:TensorFlow-based ML framework for computer vision and natural language process tasks. </a:t>
            </a:r>
            <a:endParaRPr sz="3600">
              <a:solidFill>
                <a:schemeClr val="dk1"/>
              </a:solidFill>
            </a:endParaRPr>
          </a:p>
          <a:p>
            <a:pPr indent="0" lvl="0" marL="457200" rtl="0" algn="l">
              <a:spcBef>
                <a:spcPts val="0"/>
              </a:spcBef>
              <a:spcAft>
                <a:spcPts val="0"/>
              </a:spcAft>
              <a:buNone/>
            </a:pPr>
            <a:r>
              <a:rPr lang="en-US" sz="3600">
                <a:solidFill>
                  <a:schemeClr val="dk1"/>
                </a:solidFill>
              </a:rPr>
              <a:t>Version v2.16.1</a:t>
            </a:r>
            <a:endParaRPr sz="3600">
              <a:solidFill>
                <a:schemeClr val="dk1"/>
              </a:solidFill>
            </a:endParaRPr>
          </a:p>
          <a:p>
            <a:pPr indent="0" lvl="0" marL="0" rtl="0" algn="l">
              <a:spcBef>
                <a:spcPts val="0"/>
              </a:spcBef>
              <a:spcAft>
                <a:spcPts val="0"/>
              </a:spcAft>
              <a:buClr>
                <a:schemeClr val="dk1"/>
              </a:buClr>
              <a:buFont typeface="Arial"/>
              <a:buNone/>
            </a:pPr>
            <a:r>
              <a:t/>
            </a:r>
            <a:endParaRPr b="1" sz="4800">
              <a:solidFill>
                <a:schemeClr val="dk1"/>
              </a:solidFill>
            </a:endParaRPr>
          </a:p>
        </p:txBody>
      </p:sp>
      <p:cxnSp>
        <p:nvCxnSpPr>
          <p:cNvPr id="19" name="Google Shape;19;g2c755e95bcf_8_2"/>
          <p:cNvCxnSpPr/>
          <p:nvPr/>
        </p:nvCxnSpPr>
        <p:spPr>
          <a:xfrm>
            <a:off x="12232891" y="8154563"/>
            <a:ext cx="0" cy="15933000"/>
          </a:xfrm>
          <a:prstGeom prst="straightConnector1">
            <a:avLst/>
          </a:prstGeom>
          <a:noFill/>
          <a:ln cap="flat" cmpd="sng" w="76200">
            <a:solidFill>
              <a:srgbClr val="000000"/>
            </a:solidFill>
            <a:prstDash val="dot"/>
            <a:miter lim="800000"/>
            <a:headEnd len="sm" w="sm" type="none"/>
            <a:tailEnd len="sm" w="sm" type="none"/>
          </a:ln>
        </p:spPr>
      </p:cxnSp>
      <p:cxnSp>
        <p:nvCxnSpPr>
          <p:cNvPr id="20" name="Google Shape;20;g2c755e95bcf_8_2"/>
          <p:cNvCxnSpPr/>
          <p:nvPr/>
        </p:nvCxnSpPr>
        <p:spPr>
          <a:xfrm>
            <a:off x="21960033" y="8154563"/>
            <a:ext cx="0" cy="15933000"/>
          </a:xfrm>
          <a:prstGeom prst="straightConnector1">
            <a:avLst/>
          </a:prstGeom>
          <a:noFill/>
          <a:ln cap="flat" cmpd="sng" w="76200">
            <a:solidFill>
              <a:srgbClr val="000000"/>
            </a:solidFill>
            <a:prstDash val="dot"/>
            <a:miter lim="800000"/>
            <a:headEnd len="sm" w="sm" type="none"/>
            <a:tailEnd len="sm" w="sm" type="none"/>
          </a:ln>
        </p:spPr>
      </p:cxnSp>
      <p:cxnSp>
        <p:nvCxnSpPr>
          <p:cNvPr id="21" name="Google Shape;21;g2c755e95bcf_8_2"/>
          <p:cNvCxnSpPr/>
          <p:nvPr/>
        </p:nvCxnSpPr>
        <p:spPr>
          <a:xfrm>
            <a:off x="31629447" y="8154563"/>
            <a:ext cx="0" cy="15933000"/>
          </a:xfrm>
          <a:prstGeom prst="straightConnector1">
            <a:avLst/>
          </a:prstGeom>
          <a:noFill/>
          <a:ln cap="flat" cmpd="sng" w="76200">
            <a:solidFill>
              <a:srgbClr val="000000"/>
            </a:solidFill>
            <a:prstDash val="dot"/>
            <a:miter lim="800000"/>
            <a:headEnd len="sm" w="sm" type="none"/>
            <a:tailEnd len="sm" w="sm" type="none"/>
          </a:ln>
        </p:spPr>
      </p:cxnSp>
      <p:sp>
        <p:nvSpPr>
          <p:cNvPr id="22" name="Google Shape;22;g2c755e95bcf_8_2"/>
          <p:cNvSpPr txBox="1"/>
          <p:nvPr/>
        </p:nvSpPr>
        <p:spPr>
          <a:xfrm>
            <a:off x="3140755" y="3220399"/>
            <a:ext cx="37609800" cy="344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0">
                <a:solidFill>
                  <a:schemeClr val="dk1"/>
                </a:solidFill>
              </a:rPr>
              <a:t>Machine Learning for CyberSecurity in 3D Printers</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US" sz="3600">
                <a:solidFill>
                  <a:srgbClr val="3C3C3B"/>
                </a:solidFill>
                <a:latin typeface="Arial"/>
                <a:ea typeface="Arial"/>
                <a:cs typeface="Arial"/>
                <a:sym typeface="Arial"/>
              </a:rPr>
              <a:t>Team members: </a:t>
            </a:r>
            <a:r>
              <a:rPr lang="en-US" sz="3600">
                <a:solidFill>
                  <a:srgbClr val="3C3C3B"/>
                </a:solidFill>
              </a:rPr>
              <a:t>Christ Le</a:t>
            </a:r>
            <a:r>
              <a:rPr lang="en-US" sz="3600">
                <a:solidFill>
                  <a:srgbClr val="3C3C3B"/>
                </a:solidFill>
                <a:latin typeface="Arial"/>
                <a:ea typeface="Arial"/>
                <a:cs typeface="Arial"/>
                <a:sym typeface="Arial"/>
              </a:rPr>
              <a:t>, </a:t>
            </a:r>
            <a:r>
              <a:rPr lang="en-US" sz="3600">
                <a:solidFill>
                  <a:srgbClr val="3C3C3B"/>
                </a:solidFill>
              </a:rPr>
              <a:t>Kevin Phung</a:t>
            </a:r>
            <a:r>
              <a:rPr lang="en-US" sz="3600">
                <a:solidFill>
                  <a:srgbClr val="3C3C3B"/>
                </a:solidFill>
                <a:latin typeface="Arial"/>
                <a:ea typeface="Arial"/>
                <a:cs typeface="Arial"/>
                <a:sym typeface="Arial"/>
              </a:rPr>
              <a:t>, </a:t>
            </a:r>
            <a:r>
              <a:rPr lang="en-US" sz="3600">
                <a:solidFill>
                  <a:srgbClr val="3C3C3B"/>
                </a:solidFill>
              </a:rPr>
              <a:t>Trae Evans, Michael Brown</a:t>
            </a:r>
            <a:r>
              <a:rPr lang="en-US" sz="3600">
                <a:solidFill>
                  <a:srgbClr val="3C3C3B"/>
                </a:solidFill>
                <a:latin typeface="Arial"/>
                <a:ea typeface="Arial"/>
                <a:cs typeface="Arial"/>
                <a:sym typeface="Arial"/>
              </a:rPr>
              <a:t>  |  </a:t>
            </a:r>
            <a:r>
              <a:rPr b="1" lang="en-US" sz="3600">
                <a:solidFill>
                  <a:srgbClr val="3C3C3B"/>
                </a:solidFill>
                <a:latin typeface="Arial"/>
                <a:ea typeface="Arial"/>
                <a:cs typeface="Arial"/>
                <a:sym typeface="Arial"/>
              </a:rPr>
              <a:t>Faculty adviser: </a:t>
            </a:r>
            <a:r>
              <a:rPr lang="en-US" sz="3600">
                <a:solidFill>
                  <a:srgbClr val="3C3C3B"/>
                </a:solidFill>
              </a:rPr>
              <a:t>Irfan Ahmed</a:t>
            </a:r>
            <a:r>
              <a:rPr lang="en-US" sz="3600">
                <a:solidFill>
                  <a:srgbClr val="3C3C3B"/>
                </a:solidFill>
                <a:latin typeface="Arial"/>
                <a:ea typeface="Arial"/>
                <a:cs typeface="Arial"/>
                <a:sym typeface="Arial"/>
              </a:rPr>
              <a:t>  |  </a:t>
            </a:r>
            <a:r>
              <a:rPr b="1" lang="en-US" sz="3600">
                <a:solidFill>
                  <a:srgbClr val="3C3C3B"/>
                </a:solidFill>
                <a:latin typeface="Arial"/>
                <a:ea typeface="Arial"/>
                <a:cs typeface="Arial"/>
                <a:sym typeface="Arial"/>
              </a:rPr>
              <a:t>Sponsor: </a:t>
            </a:r>
            <a:r>
              <a:rPr lang="en-US" sz="3600">
                <a:solidFill>
                  <a:srgbClr val="3C3C3B"/>
                </a:solidFill>
              </a:rPr>
              <a:t>VCU</a:t>
            </a:r>
            <a:r>
              <a:rPr lang="en-US" sz="3600">
                <a:solidFill>
                  <a:srgbClr val="3C3C3B"/>
                </a:solidFill>
                <a:latin typeface="Arial"/>
                <a:ea typeface="Arial"/>
                <a:cs typeface="Arial"/>
                <a:sym typeface="Arial"/>
              </a:rPr>
              <a:t>  |  </a:t>
            </a:r>
            <a:r>
              <a:rPr b="1" lang="en-US" sz="3600">
                <a:solidFill>
                  <a:srgbClr val="3C3C3B"/>
                </a:solidFill>
                <a:latin typeface="Arial"/>
                <a:ea typeface="Arial"/>
                <a:cs typeface="Arial"/>
                <a:sym typeface="Arial"/>
              </a:rPr>
              <a:t>Mentor: </a:t>
            </a:r>
            <a:r>
              <a:rPr lang="en-US" sz="3600">
                <a:solidFill>
                  <a:srgbClr val="3C3C3B"/>
                </a:solidFill>
              </a:rPr>
              <a:t>Hala Ali</a:t>
            </a:r>
            <a:endParaRPr/>
          </a:p>
          <a:p>
            <a:pPr indent="0" lvl="0" marL="0" marR="0" rtl="0" algn="l">
              <a:spcBef>
                <a:spcPts val="0"/>
              </a:spcBef>
              <a:spcAft>
                <a:spcPts val="0"/>
              </a:spcAft>
              <a:buNone/>
            </a:pPr>
            <a:r>
              <a:rPr lang="en-US" sz="4800">
                <a:solidFill>
                  <a:schemeClr val="dk1"/>
                </a:solidFill>
                <a:latin typeface="Arial"/>
                <a:ea typeface="Arial"/>
                <a:cs typeface="Arial"/>
                <a:sym typeface="Arial"/>
              </a:rPr>
              <a:t> </a:t>
            </a:r>
            <a:r>
              <a:rPr b="1" lang="en-US" sz="4800">
                <a:solidFill>
                  <a:schemeClr val="dk1"/>
                </a:solidFill>
                <a:latin typeface="Arial"/>
                <a:ea typeface="Arial"/>
                <a:cs typeface="Arial"/>
                <a:sym typeface="Arial"/>
              </a:rPr>
              <a:t> </a:t>
            </a:r>
            <a:endParaRPr/>
          </a:p>
        </p:txBody>
      </p:sp>
      <p:cxnSp>
        <p:nvCxnSpPr>
          <p:cNvPr id="23" name="Google Shape;23;g2c755e95bcf_8_2"/>
          <p:cNvCxnSpPr/>
          <p:nvPr/>
        </p:nvCxnSpPr>
        <p:spPr>
          <a:xfrm>
            <a:off x="3140755" y="7346374"/>
            <a:ext cx="37609800" cy="0"/>
          </a:xfrm>
          <a:prstGeom prst="straightConnector1">
            <a:avLst/>
          </a:prstGeom>
          <a:noFill/>
          <a:ln cap="flat" cmpd="sng" w="76200">
            <a:solidFill>
              <a:srgbClr val="3C3C3B"/>
            </a:solidFill>
            <a:prstDash val="dot"/>
            <a:miter lim="800000"/>
            <a:headEnd len="sm" w="sm" type="none"/>
            <a:tailEnd len="sm" w="sm" type="none"/>
          </a:ln>
        </p:spPr>
      </p:cxnSp>
      <p:sp>
        <p:nvSpPr>
          <p:cNvPr id="24" name="Google Shape;24;g2c755e95bcf_8_2"/>
          <p:cNvSpPr txBox="1"/>
          <p:nvPr/>
        </p:nvSpPr>
        <p:spPr>
          <a:xfrm>
            <a:off x="39222947" y="446934"/>
            <a:ext cx="3801900" cy="115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912">
                <a:solidFill>
                  <a:schemeClr val="lt1"/>
                </a:solidFill>
              </a:rPr>
              <a:t>24-318</a:t>
            </a:r>
            <a:endParaRPr/>
          </a:p>
        </p:txBody>
      </p:sp>
      <p:pic>
        <p:nvPicPr>
          <p:cNvPr id="25" name="Google Shape;25;g2c755e95bcf_8_2"/>
          <p:cNvPicPr preferRelativeResize="0"/>
          <p:nvPr/>
        </p:nvPicPr>
        <p:blipFill rotWithShape="1">
          <a:blip r:embed="rId3">
            <a:alphaModFix/>
          </a:blip>
          <a:srcRect b="0" l="-9240" r="9239" t="0"/>
          <a:stretch/>
        </p:blipFill>
        <p:spPr>
          <a:xfrm>
            <a:off x="41606925" y="14990226"/>
            <a:ext cx="1777777" cy="1777777"/>
          </a:xfrm>
          <a:prstGeom prst="rect">
            <a:avLst/>
          </a:prstGeom>
          <a:noFill/>
          <a:ln>
            <a:noFill/>
          </a:ln>
        </p:spPr>
      </p:pic>
      <p:pic>
        <p:nvPicPr>
          <p:cNvPr id="26" name="Google Shape;26;g2c755e95bcf_8_2"/>
          <p:cNvPicPr preferRelativeResize="0"/>
          <p:nvPr/>
        </p:nvPicPr>
        <p:blipFill rotWithShape="1">
          <a:blip r:embed="rId4">
            <a:alphaModFix/>
          </a:blip>
          <a:srcRect b="0" l="26284" r="27504" t="0"/>
          <a:stretch/>
        </p:blipFill>
        <p:spPr>
          <a:xfrm>
            <a:off x="41606937" y="16984637"/>
            <a:ext cx="1777774" cy="2321700"/>
          </a:xfrm>
          <a:prstGeom prst="rect">
            <a:avLst/>
          </a:prstGeom>
          <a:noFill/>
          <a:ln>
            <a:noFill/>
          </a:ln>
        </p:spPr>
      </p:pic>
      <p:pic>
        <p:nvPicPr>
          <p:cNvPr id="27" name="Google Shape;27;g2c755e95bcf_8_2"/>
          <p:cNvPicPr preferRelativeResize="0"/>
          <p:nvPr/>
        </p:nvPicPr>
        <p:blipFill>
          <a:blip r:embed="rId5">
            <a:alphaModFix/>
          </a:blip>
          <a:stretch>
            <a:fillRect/>
          </a:stretch>
        </p:blipFill>
        <p:spPr>
          <a:xfrm>
            <a:off x="41606933" y="12458196"/>
            <a:ext cx="1777775" cy="1736294"/>
          </a:xfrm>
          <a:prstGeom prst="rect">
            <a:avLst/>
          </a:prstGeom>
          <a:noFill/>
          <a:ln>
            <a:noFill/>
          </a:ln>
        </p:spPr>
      </p:pic>
      <p:pic>
        <p:nvPicPr>
          <p:cNvPr id="28" name="Google Shape;28;g2c755e95bcf_8_2"/>
          <p:cNvPicPr preferRelativeResize="0"/>
          <p:nvPr/>
        </p:nvPicPr>
        <p:blipFill rotWithShape="1">
          <a:blip r:embed="rId6">
            <a:alphaModFix/>
          </a:blip>
          <a:srcRect b="8651" l="0" r="1700" t="10193"/>
          <a:stretch/>
        </p:blipFill>
        <p:spPr>
          <a:xfrm>
            <a:off x="38123100" y="2492657"/>
            <a:ext cx="3530999" cy="4642268"/>
          </a:xfrm>
          <a:prstGeom prst="rect">
            <a:avLst/>
          </a:prstGeom>
          <a:noFill/>
          <a:ln>
            <a:noFill/>
          </a:ln>
        </p:spPr>
      </p:pic>
      <p:sp>
        <p:nvSpPr>
          <p:cNvPr id="29" name="Google Shape;29;g2c755e95bcf_8_2"/>
          <p:cNvSpPr txBox="1"/>
          <p:nvPr/>
        </p:nvSpPr>
        <p:spPr>
          <a:xfrm>
            <a:off x="3729700" y="26071850"/>
            <a:ext cx="6629400" cy="6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30" name="Google Shape;30;g2c755e95bcf_8_2"/>
          <p:cNvPicPr preferRelativeResize="0"/>
          <p:nvPr/>
        </p:nvPicPr>
        <p:blipFill rotWithShape="1">
          <a:blip r:embed="rId7">
            <a:alphaModFix/>
          </a:blip>
          <a:srcRect b="0" l="0" r="40047" t="0"/>
          <a:stretch/>
        </p:blipFill>
        <p:spPr>
          <a:xfrm>
            <a:off x="33937848" y="20269150"/>
            <a:ext cx="7105100" cy="8270499"/>
          </a:xfrm>
          <a:prstGeom prst="rect">
            <a:avLst/>
          </a:prstGeom>
          <a:noFill/>
          <a:ln>
            <a:noFill/>
          </a:ln>
        </p:spPr>
      </p:pic>
      <p:pic>
        <p:nvPicPr>
          <p:cNvPr id="31" name="Google Shape;31;g2c755e95bcf_8_2"/>
          <p:cNvPicPr preferRelativeResize="0"/>
          <p:nvPr/>
        </p:nvPicPr>
        <p:blipFill>
          <a:blip r:embed="rId8">
            <a:alphaModFix/>
          </a:blip>
          <a:stretch>
            <a:fillRect/>
          </a:stretch>
        </p:blipFill>
        <p:spPr>
          <a:xfrm>
            <a:off x="12867975" y="19306325"/>
            <a:ext cx="8597349" cy="6765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2018-02-06T18:12:23Z</dcterms:created>
  <dc:creator>Microsoft Office User</dc:creator>
</cp:coreProperties>
</file>